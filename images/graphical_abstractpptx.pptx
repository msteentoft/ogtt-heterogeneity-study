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7238"/>
    <a:srgbClr val="727272"/>
    <a:srgbClr val="1C4027"/>
    <a:srgbClr val="3EB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9"/>
    <p:restoredTop sz="94659"/>
  </p:normalViewPr>
  <p:slideViewPr>
    <p:cSldViewPr snapToGrid="0" snapToObjects="1">
      <p:cViewPr varScale="1">
        <p:scale>
          <a:sx n="146" d="100"/>
          <a:sy n="146" d="100"/>
        </p:scale>
        <p:origin x="12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55F3C-4AFB-4448-81CE-1CBD4DF4CF22}" type="datetimeFigureOut">
              <a:rPr lang="da-DK" smtClean="0"/>
              <a:t>26.05.2026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A28A7-7396-B24F-9415-F85B2CAF0C9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7254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A28A7-7396-B24F-9415-F85B2CAF0C9B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142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20040" y="498348"/>
            <a:ext cx="2788920" cy="6013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37560" y="498348"/>
            <a:ext cx="5440680" cy="6013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92844" y="498348"/>
            <a:ext cx="2834640" cy="6013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251460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600" b="1">
                <a:solidFill>
                  <a:srgbClr val="0A2350"/>
                </a:solidFill>
              </a:defRPr>
            </a:pPr>
            <a:r>
              <a:rPr dirty="0"/>
              <a:t>Study approach</a:t>
            </a:r>
          </a:p>
        </p:txBody>
      </p:sp>
      <p:sp>
        <p:nvSpPr>
          <p:cNvPr id="7" name="Oval 6"/>
          <p:cNvSpPr/>
          <p:nvPr/>
        </p:nvSpPr>
        <p:spPr>
          <a:xfrm>
            <a:off x="836676" y="1320202"/>
            <a:ext cx="109728" cy="109728"/>
          </a:xfrm>
          <a:prstGeom prst="ellipse">
            <a:avLst/>
          </a:prstGeom>
          <a:solidFill>
            <a:srgbClr val="A0B4CD"/>
          </a:solidFill>
          <a:ln>
            <a:solidFill>
              <a:srgbClr val="A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8388" y="1429930"/>
            <a:ext cx="146304" cy="347472"/>
          </a:xfrm>
          <a:prstGeom prst="rect">
            <a:avLst/>
          </a:prstGeom>
          <a:solidFill>
            <a:srgbClr val="A0B4CD"/>
          </a:solidFill>
          <a:ln>
            <a:solidFill>
              <a:srgbClr val="A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2708" y="1320202"/>
            <a:ext cx="109728" cy="109728"/>
          </a:xfrm>
          <a:prstGeom prst="ellipse">
            <a:avLst/>
          </a:prstGeom>
          <a:solidFill>
            <a:srgbClr val="A0B4CD"/>
          </a:solidFill>
          <a:ln>
            <a:solidFill>
              <a:srgbClr val="A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74420" y="1429930"/>
            <a:ext cx="146304" cy="347472"/>
          </a:xfrm>
          <a:prstGeom prst="rect">
            <a:avLst/>
          </a:prstGeom>
          <a:solidFill>
            <a:srgbClr val="A0B4CD"/>
          </a:solidFill>
          <a:ln>
            <a:solidFill>
              <a:srgbClr val="A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48740" y="1320202"/>
            <a:ext cx="109728" cy="109728"/>
          </a:xfrm>
          <a:prstGeom prst="ellipse">
            <a:avLst/>
          </a:prstGeom>
          <a:solidFill>
            <a:srgbClr val="205BAA"/>
          </a:solidFill>
          <a:ln>
            <a:solidFill>
              <a:srgbClr val="2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30452" y="1429930"/>
            <a:ext cx="146304" cy="347472"/>
          </a:xfrm>
          <a:prstGeom prst="rect">
            <a:avLst/>
          </a:prstGeom>
          <a:solidFill>
            <a:srgbClr val="205BAA"/>
          </a:solidFill>
          <a:ln>
            <a:solidFill>
              <a:srgbClr val="2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604772" y="1320202"/>
            <a:ext cx="109728" cy="109728"/>
          </a:xfrm>
          <a:prstGeom prst="ellipse">
            <a:avLst/>
          </a:prstGeom>
          <a:solidFill>
            <a:srgbClr val="A0B4CD"/>
          </a:solidFill>
          <a:ln>
            <a:solidFill>
              <a:srgbClr val="A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86484" y="1429930"/>
            <a:ext cx="146304" cy="347472"/>
          </a:xfrm>
          <a:prstGeom prst="rect">
            <a:avLst/>
          </a:prstGeom>
          <a:solidFill>
            <a:srgbClr val="A0B4CD"/>
          </a:solidFill>
          <a:ln>
            <a:solidFill>
              <a:srgbClr val="A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860804" y="1320202"/>
            <a:ext cx="109728" cy="109728"/>
          </a:xfrm>
          <a:prstGeom prst="ellipse">
            <a:avLst/>
          </a:prstGeom>
          <a:solidFill>
            <a:srgbClr val="205BAA"/>
          </a:solidFill>
          <a:ln>
            <a:solidFill>
              <a:srgbClr val="2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42516" y="1429930"/>
            <a:ext cx="146304" cy="347472"/>
          </a:xfrm>
          <a:prstGeom prst="rect">
            <a:avLst/>
          </a:prstGeom>
          <a:solidFill>
            <a:srgbClr val="205BAA"/>
          </a:solidFill>
          <a:ln>
            <a:solidFill>
              <a:srgbClr val="2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116836" y="1320202"/>
            <a:ext cx="109728" cy="109728"/>
          </a:xfrm>
          <a:prstGeom prst="ellipse">
            <a:avLst/>
          </a:prstGeom>
          <a:solidFill>
            <a:srgbClr val="A0B4CD"/>
          </a:solidFill>
          <a:ln>
            <a:solidFill>
              <a:srgbClr val="A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98548" y="1429930"/>
            <a:ext cx="146304" cy="347472"/>
          </a:xfrm>
          <a:prstGeom prst="rect">
            <a:avLst/>
          </a:prstGeom>
          <a:solidFill>
            <a:srgbClr val="A0B4CD"/>
          </a:solidFill>
          <a:ln>
            <a:solidFill>
              <a:srgbClr val="A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372868" y="1320202"/>
            <a:ext cx="109728" cy="109728"/>
          </a:xfrm>
          <a:prstGeom prst="ellipse">
            <a:avLst/>
          </a:prstGeom>
          <a:solidFill>
            <a:srgbClr val="A0B4CD"/>
          </a:solidFill>
          <a:ln>
            <a:solidFill>
              <a:srgbClr val="A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54580" y="1429930"/>
            <a:ext cx="146304" cy="347472"/>
          </a:xfrm>
          <a:prstGeom prst="rect">
            <a:avLst/>
          </a:prstGeom>
          <a:solidFill>
            <a:srgbClr val="A0B4CD"/>
          </a:solidFill>
          <a:ln>
            <a:solidFill>
              <a:srgbClr val="A0B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1881378"/>
            <a:ext cx="23317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200" b="1">
                <a:solidFill>
                  <a:srgbClr val="0A2350"/>
                </a:solidFill>
              </a:defRPr>
            </a:pPr>
            <a:r>
              <a:rPr dirty="0"/>
              <a:t>1,381 individuals</a:t>
            </a:r>
            <a:br>
              <a:rPr dirty="0"/>
            </a:br>
            <a:r>
              <a:rPr dirty="0"/>
              <a:t>at high risk of type 2 diabetes</a:t>
            </a:r>
            <a:br>
              <a:rPr dirty="0"/>
            </a:br>
            <a:r>
              <a:rPr dirty="0"/>
              <a:t>(ADDITION-PRO cohort)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9120" y="2739784"/>
            <a:ext cx="2331720" cy="97257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26364" y="2848356"/>
            <a:ext cx="21488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150" b="1">
                <a:solidFill>
                  <a:srgbClr val="0A2350"/>
                </a:solidFill>
              </a:defRPr>
            </a:pPr>
            <a:r>
              <a:rPr dirty="0"/>
              <a:t>Oral glucose tolerance test (OGTT)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2006" y="3301147"/>
            <a:ext cx="1600200" cy="0"/>
          </a:xfrm>
          <a:prstGeom prst="line">
            <a:avLst/>
          </a:prstGeom>
          <a:ln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9140" y="3387889"/>
            <a:ext cx="4572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rPr dirty="0"/>
              <a:t>0 min</a:t>
            </a:r>
          </a:p>
        </p:txBody>
      </p:sp>
      <p:sp>
        <p:nvSpPr>
          <p:cNvPr id="27" name="Oval 26"/>
          <p:cNvSpPr/>
          <p:nvPr/>
        </p:nvSpPr>
        <p:spPr>
          <a:xfrm>
            <a:off x="2511243" y="3244120"/>
            <a:ext cx="131162" cy="120909"/>
          </a:xfrm>
          <a:prstGeom prst="ellipse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35324" y="3370432"/>
            <a:ext cx="4572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rPr dirty="0"/>
              <a:t>120 min</a:t>
            </a:r>
          </a:p>
        </p:txBody>
      </p:sp>
      <p:sp>
        <p:nvSpPr>
          <p:cNvPr id="31" name="Right Arrow 30"/>
          <p:cNvSpPr/>
          <p:nvPr/>
        </p:nvSpPr>
        <p:spPr>
          <a:xfrm rot="5400000">
            <a:off x="1554480" y="3859157"/>
            <a:ext cx="269748" cy="169164"/>
          </a:xfrm>
          <a:prstGeom prst="rightArrow">
            <a:avLst/>
          </a:prstGeom>
          <a:solidFill>
            <a:srgbClr val="0A2350"/>
          </a:solidFill>
          <a:ln>
            <a:solidFill>
              <a:srgbClr val="0A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76876" y="4144858"/>
            <a:ext cx="2331720" cy="5718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4283" y="4075123"/>
            <a:ext cx="2328460" cy="52168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050" b="0">
                <a:solidFill>
                  <a:srgbClr val="0A2350"/>
                </a:solidFill>
              </a:defRPr>
            </a:pPr>
            <a:br>
              <a:rPr dirty="0"/>
            </a:br>
            <a:r>
              <a:rPr lang="da-DK" dirty="0"/>
              <a:t>OGTT-</a:t>
            </a:r>
            <a:r>
              <a:rPr lang="da-DK" dirty="0" err="1"/>
              <a:t>derived</a:t>
            </a:r>
            <a:r>
              <a:rPr lang="da-DK" dirty="0"/>
              <a:t> glucose, insulin sensitivity, GLP-1, GIP and </a:t>
            </a:r>
            <a:r>
              <a:rPr dirty="0"/>
              <a:t>glucagon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" y="5142138"/>
            <a:ext cx="2331720" cy="571863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4544" y="5319992"/>
            <a:ext cx="19659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300" b="1">
                <a:solidFill>
                  <a:srgbClr val="0A2350"/>
                </a:solidFill>
              </a:defRPr>
            </a:pPr>
            <a:r>
              <a:rPr dirty="0"/>
              <a:t>K-means clustering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804672"/>
            <a:ext cx="516636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600" b="1">
                <a:solidFill>
                  <a:srgbClr val="0A2350"/>
                </a:solidFill>
              </a:defRPr>
            </a:pPr>
            <a:r>
              <a:rPr lang="da-DK" dirty="0"/>
              <a:t>K-means clustering identified three subgroups</a:t>
            </a:r>
            <a:endParaRPr dirty="0"/>
          </a:p>
        </p:txBody>
      </p:sp>
      <p:sp>
        <p:nvSpPr>
          <p:cNvPr id="38" name="Rounded Rectangle 37"/>
          <p:cNvSpPr/>
          <p:nvPr/>
        </p:nvSpPr>
        <p:spPr>
          <a:xfrm>
            <a:off x="3506186" y="1511947"/>
            <a:ext cx="1683411" cy="4526280"/>
          </a:xfrm>
          <a:prstGeom prst="roundRect">
            <a:avLst/>
          </a:prstGeom>
          <a:solidFill>
            <a:srgbClr val="EFF5FD"/>
          </a:solidFill>
          <a:ln w="12700">
            <a:solidFill>
              <a:srgbClr val="2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506186" y="1481879"/>
            <a:ext cx="1683411" cy="658368"/>
          </a:xfrm>
          <a:prstGeom prst="roundRect">
            <a:avLst/>
          </a:prstGeom>
          <a:solidFill>
            <a:srgbClr val="205BAA"/>
          </a:solidFill>
          <a:ln w="12700">
            <a:solidFill>
              <a:srgbClr val="2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43241" y="1555031"/>
            <a:ext cx="1481328" cy="58521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Cluster 1</a:t>
            </a:r>
            <a:br>
              <a:rPr dirty="0"/>
            </a:br>
            <a:r>
              <a:rPr dirty="0"/>
              <a:t>(n = 459)</a:t>
            </a:r>
          </a:p>
        </p:txBody>
      </p:sp>
      <p:sp>
        <p:nvSpPr>
          <p:cNvPr id="41" name="Oval 40"/>
          <p:cNvSpPr/>
          <p:nvPr/>
        </p:nvSpPr>
        <p:spPr>
          <a:xfrm>
            <a:off x="4306824" y="2315019"/>
            <a:ext cx="182880" cy="182880"/>
          </a:xfrm>
          <a:prstGeom prst="ellipse">
            <a:avLst/>
          </a:prstGeom>
          <a:solidFill>
            <a:srgbClr val="205BAA"/>
          </a:solidFill>
          <a:ln>
            <a:solidFill>
              <a:srgbClr val="2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Rectangle 41"/>
          <p:cNvSpPr/>
          <p:nvPr/>
        </p:nvSpPr>
        <p:spPr>
          <a:xfrm>
            <a:off x="4270248" y="2491740"/>
            <a:ext cx="256032" cy="502920"/>
          </a:xfrm>
          <a:prstGeom prst="rect">
            <a:avLst/>
          </a:prstGeom>
          <a:solidFill>
            <a:srgbClr val="205BAA"/>
          </a:solidFill>
          <a:ln>
            <a:solidFill>
              <a:srgbClr val="2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81088" y="3171381"/>
            <a:ext cx="1773590" cy="991041"/>
          </a:xfrm>
          <a:prstGeom prst="rect">
            <a:avLst/>
          </a:prstGeom>
          <a:noFill/>
        </p:spPr>
        <p:txBody>
          <a:bodyPr wrap="square" lIns="73152" tIns="18288" rIns="36576" bIns="18288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rPr lang="da-DK" dirty="0"/>
              <a:t>Mostly normoglycemia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rPr dirty="0"/>
              <a:t>High insulin sensitivity</a:t>
            </a:r>
            <a:endParaRPr lang="da-DK" dirty="0"/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rPr dirty="0"/>
              <a:t>Lowest incretin secretion</a:t>
            </a:r>
            <a:endParaRPr lang="da-DK" dirty="0"/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rPr lang="da-DK" dirty="0"/>
              <a:t>Highest glucagon suppression</a:t>
            </a:r>
            <a:endParaRPr dirty="0"/>
          </a:p>
        </p:txBody>
      </p:sp>
      <p:sp>
        <p:nvSpPr>
          <p:cNvPr id="44" name="Rounded Rectangle 43"/>
          <p:cNvSpPr/>
          <p:nvPr/>
        </p:nvSpPr>
        <p:spPr>
          <a:xfrm>
            <a:off x="5293017" y="1499616"/>
            <a:ext cx="1651209" cy="4526280"/>
          </a:xfrm>
          <a:prstGeom prst="roundRect">
            <a:avLst/>
          </a:prstGeom>
          <a:solidFill>
            <a:srgbClr val="F1F9F1"/>
          </a:solidFill>
          <a:ln w="12700">
            <a:solidFill>
              <a:srgbClr val="308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293016" y="1495384"/>
            <a:ext cx="1665568" cy="658368"/>
          </a:xfrm>
          <a:prstGeom prst="roundRect">
            <a:avLst/>
          </a:prstGeom>
          <a:solidFill>
            <a:srgbClr val="308243"/>
          </a:solidFill>
          <a:ln w="12700">
            <a:solidFill>
              <a:srgbClr val="308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TextBox 45"/>
          <p:cNvSpPr txBox="1"/>
          <p:nvPr/>
        </p:nvSpPr>
        <p:spPr>
          <a:xfrm>
            <a:off x="5342938" y="1580936"/>
            <a:ext cx="1569926" cy="4985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Cluster 2</a:t>
            </a:r>
            <a:br>
              <a:rPr dirty="0"/>
            </a:br>
            <a:r>
              <a:rPr dirty="0"/>
              <a:t>(n = 491)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75675" y="3160196"/>
            <a:ext cx="1569926" cy="991041"/>
          </a:xfrm>
          <a:prstGeom prst="rect">
            <a:avLst/>
          </a:prstGeom>
          <a:noFill/>
        </p:spPr>
        <p:txBody>
          <a:bodyPr wrap="square" lIns="73152" tIns="18288" rIns="36576" bIns="18288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rPr lang="da-DK" dirty="0"/>
              <a:t>Mostly normoglycemia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rPr dirty="0"/>
              <a:t>Highest insulin sensitivity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rPr dirty="0"/>
              <a:t>Highest incretin secretion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rPr dirty="0"/>
              <a:t>Low glucagon suppression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16455" y="1511947"/>
            <a:ext cx="1647624" cy="45262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D3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002098" y="1474979"/>
            <a:ext cx="1661982" cy="658368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D3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7031" y="1586299"/>
            <a:ext cx="1480223" cy="49859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Cluster 3</a:t>
            </a:r>
            <a:br>
              <a:rPr dirty="0"/>
            </a:br>
            <a:r>
              <a:rPr dirty="0"/>
              <a:t>(n = 431)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00109" y="3141931"/>
            <a:ext cx="1600800" cy="1475789"/>
          </a:xfrm>
          <a:prstGeom prst="rect">
            <a:avLst/>
          </a:prstGeom>
          <a:noFill/>
        </p:spPr>
        <p:txBody>
          <a:bodyPr wrap="square" lIns="73152" tIns="18288" rIns="36576" bIns="18288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rPr lang="da-DK" dirty="0"/>
              <a:t>High proportion with type 2 diabetes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rPr dirty="0"/>
              <a:t>Lowest insulin sensitivity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rPr dirty="0"/>
              <a:t>High incretin secretion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rPr dirty="0"/>
              <a:t>Impaired early, but </a:t>
            </a:r>
            <a:r>
              <a:rPr lang="da-DK" dirty="0"/>
              <a:t>preserved</a:t>
            </a:r>
            <a:r>
              <a:rPr dirty="0"/>
              <a:t> overall glucagon suppression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8714000" y="3214116"/>
            <a:ext cx="429999" cy="251460"/>
          </a:xfrm>
          <a:prstGeom prst="rightArrow">
            <a:avLst/>
          </a:prstGeom>
          <a:solidFill>
            <a:srgbClr val="0A2350"/>
          </a:solidFill>
          <a:ln>
            <a:solidFill>
              <a:srgbClr val="0A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061704" y="711347"/>
            <a:ext cx="2724912" cy="75251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550" b="1">
                <a:solidFill>
                  <a:srgbClr val="0A2350"/>
                </a:solidFill>
              </a:defRPr>
            </a:pPr>
            <a:r>
              <a:rPr dirty="0"/>
              <a:t>Associations with body fat distribution</a:t>
            </a:r>
            <a:br>
              <a:rPr dirty="0"/>
            </a:br>
            <a:r>
              <a:rPr dirty="0"/>
              <a:t>estimated by linear regression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33763" y="1856767"/>
            <a:ext cx="1573277" cy="19851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050" b="1">
                <a:solidFill>
                  <a:srgbClr val="0A2350"/>
                </a:solidFill>
              </a:defRPr>
            </a:pPr>
            <a:r>
              <a:rPr lang="da-DK" dirty="0"/>
              <a:t>Reference: Cluster 2</a:t>
            </a:r>
            <a:endParaRPr dirty="0"/>
          </a:p>
        </p:txBody>
      </p:sp>
      <p:sp>
        <p:nvSpPr>
          <p:cNvPr id="60" name="TextBox 59"/>
          <p:cNvSpPr txBox="1"/>
          <p:nvPr/>
        </p:nvSpPr>
        <p:spPr>
          <a:xfrm>
            <a:off x="10496389" y="1856953"/>
            <a:ext cx="5486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050" b="1">
                <a:solidFill>
                  <a:srgbClr val="205BAA"/>
                </a:solidFill>
              </a:defRPr>
            </a:pPr>
            <a:r>
              <a:rPr dirty="0"/>
              <a:t>Cluster 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1841725"/>
            <a:ext cx="5486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050" b="1">
                <a:solidFill>
                  <a:srgbClr val="CD322D"/>
                </a:solidFill>
              </a:defRPr>
            </a:pPr>
            <a:r>
              <a:rPr dirty="0"/>
              <a:t>Cluster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5440" y="2166821"/>
            <a:ext cx="12801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0A2350"/>
                </a:solidFill>
              </a:defRPr>
            </a:pPr>
            <a:r>
              <a:rPr dirty="0"/>
              <a:t>Visceral adipose</a:t>
            </a:r>
            <a:br>
              <a:rPr dirty="0"/>
            </a:br>
            <a:r>
              <a:rPr dirty="0"/>
              <a:t>tissue</a:t>
            </a:r>
            <a:r>
              <a:rPr lang="da-DK" dirty="0"/>
              <a:t> (VAT)</a:t>
            </a:r>
            <a:endParaRPr dirty="0"/>
          </a:p>
        </p:txBody>
      </p:sp>
      <p:sp>
        <p:nvSpPr>
          <p:cNvPr id="63" name="TextBox 62"/>
          <p:cNvSpPr txBox="1"/>
          <p:nvPr/>
        </p:nvSpPr>
        <p:spPr>
          <a:xfrm>
            <a:off x="10587829" y="2190170"/>
            <a:ext cx="365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000" b="1">
                <a:solidFill>
                  <a:srgbClr val="787878"/>
                </a:solidFill>
              </a:defRPr>
            </a:pPr>
            <a:r>
              <a:rPr dirty="0"/>
              <a:t>=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47120" y="2177132"/>
            <a:ext cx="365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000" b="1">
                <a:solidFill>
                  <a:srgbClr val="CD322D"/>
                </a:solidFill>
              </a:defRPr>
            </a:pPr>
            <a:r>
              <a:rPr dirty="0"/>
              <a:t>↑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235440" y="2628164"/>
            <a:ext cx="2377440" cy="0"/>
          </a:xfrm>
          <a:prstGeom prst="line">
            <a:avLst/>
          </a:prstGeom>
          <a:ln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235440" y="2737892"/>
            <a:ext cx="12801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0A2350"/>
                </a:solidFill>
              </a:defRPr>
            </a:pPr>
            <a:r>
              <a:rPr dirty="0"/>
              <a:t>Subcutaneous</a:t>
            </a:r>
            <a:br>
              <a:rPr lang="da-DK" dirty="0"/>
            </a:br>
            <a:r>
              <a:rPr dirty="0"/>
              <a:t>adipose tissue</a:t>
            </a:r>
            <a:r>
              <a:rPr lang="da-DK" dirty="0"/>
              <a:t> (SAT)</a:t>
            </a:r>
            <a:endParaRPr dirty="0"/>
          </a:p>
        </p:txBody>
      </p:sp>
      <p:sp>
        <p:nvSpPr>
          <p:cNvPr id="67" name="TextBox 66"/>
          <p:cNvSpPr txBox="1"/>
          <p:nvPr/>
        </p:nvSpPr>
        <p:spPr>
          <a:xfrm>
            <a:off x="10607040" y="2737892"/>
            <a:ext cx="365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000" b="1">
                <a:solidFill>
                  <a:srgbClr val="CD322D"/>
                </a:solidFill>
              </a:defRPr>
            </a:pPr>
            <a:r>
              <a:t>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7120" y="2737892"/>
            <a:ext cx="365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000" b="1">
                <a:solidFill>
                  <a:srgbClr val="CD322D"/>
                </a:solidFill>
              </a:defRPr>
            </a:pPr>
            <a:r>
              <a:t>↑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235440" y="3214116"/>
            <a:ext cx="2377440" cy="0"/>
          </a:xfrm>
          <a:prstGeom prst="line">
            <a:avLst/>
          </a:prstGeom>
          <a:ln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235440" y="3365029"/>
            <a:ext cx="12801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0A2350"/>
                </a:solidFill>
              </a:defRPr>
            </a:pPr>
            <a:r>
              <a:rPr dirty="0"/>
              <a:t>VAT/SAT ratio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07040" y="3305556"/>
            <a:ext cx="365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000" b="1">
                <a:solidFill>
                  <a:srgbClr val="205BAA"/>
                </a:solidFill>
              </a:defRPr>
            </a:pPr>
            <a:r>
              <a:rPr dirty="0"/>
              <a:t>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1157" y="3301147"/>
            <a:ext cx="365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000" b="1">
                <a:solidFill>
                  <a:srgbClr val="CD322D"/>
                </a:solidFill>
              </a:defRPr>
            </a:pPr>
            <a:r>
              <a:rPr dirty="0"/>
              <a:t>↑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216253" y="3739208"/>
            <a:ext cx="2377440" cy="0"/>
          </a:xfrm>
          <a:prstGeom prst="line">
            <a:avLst/>
          </a:prstGeom>
          <a:ln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211219" y="3889200"/>
            <a:ext cx="1275517" cy="2062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100" b="1">
                <a:solidFill>
                  <a:srgbClr val="0A2350"/>
                </a:solidFill>
              </a:defRPr>
            </a:pPr>
            <a:r>
              <a:rPr dirty="0"/>
              <a:t>Body fat</a:t>
            </a:r>
            <a:r>
              <a:rPr lang="da-DK" dirty="0"/>
              <a:t> </a:t>
            </a:r>
            <a:r>
              <a:rPr dirty="0"/>
              <a:t>percentage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3831197"/>
            <a:ext cx="365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000" b="1">
                <a:solidFill>
                  <a:srgbClr val="CD322D"/>
                </a:solidFill>
              </a:defRPr>
            </a:pPr>
            <a:r>
              <a:rPr dirty="0"/>
              <a:t>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47120" y="3833069"/>
            <a:ext cx="3657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000" b="1">
                <a:solidFill>
                  <a:srgbClr val="CD322D"/>
                </a:solidFill>
              </a:defRPr>
            </a:pPr>
            <a:r>
              <a:rPr dirty="0"/>
              <a:t>↑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298016" y="4673802"/>
            <a:ext cx="2252288" cy="605482"/>
          </a:xfrm>
          <a:prstGeom prst="roundRect">
            <a:avLst/>
          </a:prstGeom>
          <a:solidFill>
            <a:srgbClr val="F6F2FD"/>
          </a:solidFill>
          <a:ln w="12700">
            <a:solidFill>
              <a:srgbClr val="D2C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435176" y="4686621"/>
            <a:ext cx="2103120" cy="5678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150" b="1">
                <a:solidFill>
                  <a:srgbClr val="5F3C9B"/>
                </a:solidFill>
              </a:defRPr>
            </a:pPr>
            <a:r>
              <a:rPr dirty="0"/>
              <a:t>Distinct response patterns are associated with different</a:t>
            </a:r>
            <a:r>
              <a:rPr lang="da-DK" dirty="0"/>
              <a:t> patterns of</a:t>
            </a:r>
            <a:r>
              <a:rPr dirty="0"/>
              <a:t> body fat distribution</a:t>
            </a:r>
          </a:p>
        </p:txBody>
      </p:sp>
      <p:sp>
        <p:nvSpPr>
          <p:cNvPr id="79" name="Oval 26">
            <a:extLst>
              <a:ext uri="{FF2B5EF4-FFF2-40B4-BE49-F238E27FC236}">
                <a16:creationId xmlns:a16="http://schemas.microsoft.com/office/drawing/2014/main" id="{2FD40CC4-28A3-B67D-ACBD-6D684400912A}"/>
              </a:ext>
            </a:extLst>
          </p:cNvPr>
          <p:cNvSpPr/>
          <p:nvPr/>
        </p:nvSpPr>
        <p:spPr>
          <a:xfrm>
            <a:off x="940585" y="3244120"/>
            <a:ext cx="131162" cy="120909"/>
          </a:xfrm>
          <a:prstGeom prst="ellipse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ight Arrow 30">
            <a:extLst>
              <a:ext uri="{FF2B5EF4-FFF2-40B4-BE49-F238E27FC236}">
                <a16:creationId xmlns:a16="http://schemas.microsoft.com/office/drawing/2014/main" id="{E0ED77FB-1007-D532-5296-3FCA7DAB24E3}"/>
              </a:ext>
            </a:extLst>
          </p:cNvPr>
          <p:cNvSpPr/>
          <p:nvPr/>
        </p:nvSpPr>
        <p:spPr>
          <a:xfrm rot="5400000">
            <a:off x="1563664" y="4833635"/>
            <a:ext cx="269748" cy="169164"/>
          </a:xfrm>
          <a:prstGeom prst="rightArrow">
            <a:avLst/>
          </a:prstGeom>
          <a:solidFill>
            <a:srgbClr val="0A2350"/>
          </a:solidFill>
          <a:ln>
            <a:solidFill>
              <a:srgbClr val="0A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ight Arrow 30">
            <a:extLst>
              <a:ext uri="{FF2B5EF4-FFF2-40B4-BE49-F238E27FC236}">
                <a16:creationId xmlns:a16="http://schemas.microsoft.com/office/drawing/2014/main" id="{1D6645AE-0CDF-5006-A44C-CF4B8FCF795B}"/>
              </a:ext>
            </a:extLst>
          </p:cNvPr>
          <p:cNvSpPr/>
          <p:nvPr/>
        </p:nvSpPr>
        <p:spPr>
          <a:xfrm rot="5400000">
            <a:off x="10289286" y="5423351"/>
            <a:ext cx="269748" cy="169164"/>
          </a:xfrm>
          <a:prstGeom prst="rightArrow">
            <a:avLst/>
          </a:prstGeom>
          <a:solidFill>
            <a:srgbClr val="0A2350"/>
          </a:solidFill>
          <a:ln>
            <a:solidFill>
              <a:srgbClr val="0A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76">
            <a:extLst>
              <a:ext uri="{FF2B5EF4-FFF2-40B4-BE49-F238E27FC236}">
                <a16:creationId xmlns:a16="http://schemas.microsoft.com/office/drawing/2014/main" id="{4F4C2EBA-BB35-AFBE-F38A-F0ABBE506063}"/>
              </a:ext>
            </a:extLst>
          </p:cNvPr>
          <p:cNvSpPr/>
          <p:nvPr/>
        </p:nvSpPr>
        <p:spPr>
          <a:xfrm>
            <a:off x="9235440" y="5719312"/>
            <a:ext cx="2314864" cy="605482"/>
          </a:xfrm>
          <a:prstGeom prst="roundRect">
            <a:avLst/>
          </a:prstGeom>
          <a:solidFill>
            <a:srgbClr val="F6F2FD"/>
          </a:solidFill>
          <a:ln w="12700">
            <a:solidFill>
              <a:srgbClr val="D2C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5F3C9B"/>
                </a:solidFill>
              </a:defRPr>
            </a:pPr>
            <a:r>
              <a:rPr lang="da-DK" dirty="0"/>
              <a:t>Future studies: Can GLP-1, GIP and glucagon responses inform risk stratification and prevention?</a:t>
            </a:r>
          </a:p>
        </p:txBody>
      </p:sp>
      <p:sp>
        <p:nvSpPr>
          <p:cNvPr id="84" name="Right Arrow 56">
            <a:extLst>
              <a:ext uri="{FF2B5EF4-FFF2-40B4-BE49-F238E27FC236}">
                <a16:creationId xmlns:a16="http://schemas.microsoft.com/office/drawing/2014/main" id="{EAFD7A26-A069-E57A-B81F-9BC13352236C}"/>
              </a:ext>
            </a:extLst>
          </p:cNvPr>
          <p:cNvSpPr/>
          <p:nvPr/>
        </p:nvSpPr>
        <p:spPr>
          <a:xfrm>
            <a:off x="3083347" y="3209272"/>
            <a:ext cx="429999" cy="251460"/>
          </a:xfrm>
          <a:prstGeom prst="rightArrow">
            <a:avLst/>
          </a:prstGeom>
          <a:solidFill>
            <a:srgbClr val="0A2350"/>
          </a:solidFill>
          <a:ln>
            <a:solidFill>
              <a:srgbClr val="0A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ight Arrow 30">
            <a:extLst>
              <a:ext uri="{FF2B5EF4-FFF2-40B4-BE49-F238E27FC236}">
                <a16:creationId xmlns:a16="http://schemas.microsoft.com/office/drawing/2014/main" id="{E8AD926C-E4D2-8B54-8B56-D38C3E276476}"/>
              </a:ext>
            </a:extLst>
          </p:cNvPr>
          <p:cNvSpPr/>
          <p:nvPr/>
        </p:nvSpPr>
        <p:spPr>
          <a:xfrm rot="5400000">
            <a:off x="10276933" y="4360571"/>
            <a:ext cx="269748" cy="169164"/>
          </a:xfrm>
          <a:prstGeom prst="rightArrow">
            <a:avLst/>
          </a:prstGeom>
          <a:solidFill>
            <a:srgbClr val="0A2350"/>
          </a:solidFill>
          <a:ln>
            <a:solidFill>
              <a:srgbClr val="0A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ight Arrow 30">
            <a:extLst>
              <a:ext uri="{FF2B5EF4-FFF2-40B4-BE49-F238E27FC236}">
                <a16:creationId xmlns:a16="http://schemas.microsoft.com/office/drawing/2014/main" id="{DBA76FEF-C29F-1A75-D2C4-68F818300385}"/>
              </a:ext>
            </a:extLst>
          </p:cNvPr>
          <p:cNvSpPr/>
          <p:nvPr/>
        </p:nvSpPr>
        <p:spPr>
          <a:xfrm rot="5400000">
            <a:off x="1536192" y="2491477"/>
            <a:ext cx="269748" cy="169164"/>
          </a:xfrm>
          <a:prstGeom prst="rightArrow">
            <a:avLst/>
          </a:prstGeom>
          <a:solidFill>
            <a:srgbClr val="0A2350"/>
          </a:solidFill>
          <a:ln>
            <a:solidFill>
              <a:srgbClr val="0A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E8A7988F-C4B2-CF48-75F0-1DDE6250B1AA}"/>
              </a:ext>
            </a:extLst>
          </p:cNvPr>
          <p:cNvSpPr/>
          <p:nvPr/>
        </p:nvSpPr>
        <p:spPr>
          <a:xfrm>
            <a:off x="7743194" y="2323570"/>
            <a:ext cx="182880" cy="18288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8" name="Rectangle 41">
            <a:extLst>
              <a:ext uri="{FF2B5EF4-FFF2-40B4-BE49-F238E27FC236}">
                <a16:creationId xmlns:a16="http://schemas.microsoft.com/office/drawing/2014/main" id="{9402EBDB-386D-E087-142C-043D031EFEB2}"/>
              </a:ext>
            </a:extLst>
          </p:cNvPr>
          <p:cNvSpPr/>
          <p:nvPr/>
        </p:nvSpPr>
        <p:spPr>
          <a:xfrm>
            <a:off x="7712251" y="2490761"/>
            <a:ext cx="256032" cy="50292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53801C18-E848-B913-455C-F0291A4A1C38}"/>
              </a:ext>
            </a:extLst>
          </p:cNvPr>
          <p:cNvSpPr/>
          <p:nvPr/>
        </p:nvSpPr>
        <p:spPr>
          <a:xfrm>
            <a:off x="6034360" y="2312105"/>
            <a:ext cx="182880" cy="182880"/>
          </a:xfrm>
          <a:prstGeom prst="ellipse">
            <a:avLst/>
          </a:prstGeom>
          <a:solidFill>
            <a:srgbClr val="297238"/>
          </a:solidFill>
          <a:ln>
            <a:solidFill>
              <a:srgbClr val="297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7" name="Rectangle 41">
            <a:extLst>
              <a:ext uri="{FF2B5EF4-FFF2-40B4-BE49-F238E27FC236}">
                <a16:creationId xmlns:a16="http://schemas.microsoft.com/office/drawing/2014/main" id="{C5D191E1-954B-C7B9-7EE8-0CAC22131B54}"/>
              </a:ext>
            </a:extLst>
          </p:cNvPr>
          <p:cNvSpPr/>
          <p:nvPr/>
        </p:nvSpPr>
        <p:spPr>
          <a:xfrm>
            <a:off x="5997784" y="2482710"/>
            <a:ext cx="256032" cy="502920"/>
          </a:xfrm>
          <a:prstGeom prst="rect">
            <a:avLst/>
          </a:prstGeom>
          <a:solidFill>
            <a:srgbClr val="297238"/>
          </a:solidFill>
          <a:ln>
            <a:solidFill>
              <a:srgbClr val="297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3" name="Right Arrow 30">
            <a:extLst>
              <a:ext uri="{FF2B5EF4-FFF2-40B4-BE49-F238E27FC236}">
                <a16:creationId xmlns:a16="http://schemas.microsoft.com/office/drawing/2014/main" id="{7AB3BFDE-6581-65DB-600D-29C67E7DD68F}"/>
              </a:ext>
            </a:extLst>
          </p:cNvPr>
          <p:cNvSpPr/>
          <p:nvPr/>
        </p:nvSpPr>
        <p:spPr>
          <a:xfrm rot="5400000">
            <a:off x="5959006" y="1185946"/>
            <a:ext cx="269748" cy="169164"/>
          </a:xfrm>
          <a:prstGeom prst="rightArrow">
            <a:avLst/>
          </a:prstGeom>
          <a:solidFill>
            <a:srgbClr val="0A2350"/>
          </a:solidFill>
          <a:ln>
            <a:solidFill>
              <a:srgbClr val="0A2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189</Words>
  <Application>Microsoft Macintosh PowerPoint</Application>
  <PresentationFormat>Widescreen</PresentationFormat>
  <Paragraphs>42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PowerPoint-præsentation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Mikkel Errboe Steentoft</cp:lastModifiedBy>
  <cp:revision>7</cp:revision>
  <dcterms:created xsi:type="dcterms:W3CDTF">2013-01-27T09:14:16Z</dcterms:created>
  <dcterms:modified xsi:type="dcterms:W3CDTF">2026-05-26T12:28:23Z</dcterms:modified>
  <cp:category/>
</cp:coreProperties>
</file>